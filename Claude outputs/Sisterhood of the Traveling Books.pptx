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thanks for being my guinea pigs tonight. This is my app, Sisterhood of the Traveling Books. One physical book goes around our group, one reader at a time, and the app tracks where it is and everywhere it's been. Quick pitch, then I want your honest reactions.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Libraries are great. They also have a fine system: you bring it back or somebody emails you. Friends do not have that system. Hold that thought.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I buy a book, I read it once, and it sits on a shelf. If I lend it to a friend, it gets forgotten, or it gets lost, or it ends up at a third person's house and nobody knows. I've definitely lost books this way. Mostly I've lost track of who has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library card meets group chat. One real book, and the app keeps track of it. You lend a book, you own the copy and it starts with you. Friends sign themselves up for the line, and nobody gets added without saying yes. The holder passes it on and can leave a letter. When nobody's waiting, it goes home to whoever owns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don't think I'm the only one who reads the thing a friend hands me and ignores the thing I bought myself. Sharing makes reading social, it makes trying a new book basically free, and it keeps one copy in use instead of collecting dust. For the nerds: a 2012 UK Department for Education review, 'Research evidence on reading for pleasure', says regularly reading stories or novels outside school is associated with higher reading scores, citing PIRLS 2006 and PISA 2009 (page 3). That's an association, not proof, so I'm not overselling it. Source: https://dera.ioe.ac.uk/id/eprint/32280/1/reading_for_pleasure%281%29.pdf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I care about most. Friends move away and 'doing life together' turns into a yearly catch-up, if that. A shared book is a reason to stay in touch. I have a friend who moved across the country and she still gets the book next. The book travels between cities, and every stop is kept on its journey.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pass the book on, you can leave a letter: a rating and a note. It stays sealed until the next reader finishes the book too, so nobody's opinion spoils theirs. Over time it turns into a slow, personal conversation with people far away. I honestly don't know if this is charming or annoying. That's one of my questions for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you can trust it. Books live in invite-only groups and only members can see them. Friend requests have to be accepted, and sign-in is an emailed link, no passwords. The part I like: a book's location is never stored. It's just the newest row in an append-only log of handoffs, so the whole journey is always there and can't be quietly rewritten. Built with Expo and React Native, so web and mobile, plus Supabase and GitHub Pages. It's live at itang1.github.io/book-club.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tour. I'll flip to the live app here: lend a book, join the line, pass it on. Nothing's polished, and I'll say so as I go. Live at itang1.github.io/book-club if you want to follow along on your phone.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it goes later, not tonight. I run a Little Free Library. I'd put an NFC sticker inside each book I give away. A stranger taps it with their phone, lands on that book's page, sees where it's been, and can join the line and pass it on. Every free book becomes a way to get a new user. A sticker costs about 30 cents, and phones without NFC can scan a QR code instead. The loop: give it away, tap, sign up, read, pass it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I'm at, honestly. Now: it's live and works on web and mobile. You can lend, line up, pass and leave letters. It has rough edges, and I'd rather you find them than a stranger. Next: you start groups, everybody lends one book, and I fix what breaks. Later: the NFC stickers and QR fallback for Little Library books.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plainly: I want honest feedback, growth ideas, and a few testers. Tonight, text me one idea, or scan this and poke around. If you're up for it, start a group, lend one book, and invite one other friend. Questions I'd love your take on: Would you lend a book you love? Are sealed letters charming or annoying? What stops a book getting stuck with a slow reader? Would you add friends who moved away? And what would make you stop using it?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B2737"/>
        </a:solidFill>
        <a:effectLst/>
      </p:bgPr>
    </p:bg>
    <p:spTree>
      <p:nvGrpSpPr>
        <p:cNvPr id="1" name=""/>
        <p:cNvGrpSpPr/>
        <p:nvPr/>
      </p:nvGrpSpPr>
      <p:grpSpPr/>
      <p:sp>
        <p:nvSpPr>
          <p:cNvPr id="2" name="TextBox 1"/>
          <p:cNvSpPr txBox="1"/>
          <p:nvPr/>
        </p:nvSpPr>
        <p:spPr>
          <a:xfrm>
            <a:off x="548640" y="822960"/>
            <a:ext cx="8046720" cy="1828800"/>
          </a:xfrm>
          <a:prstGeom prst="rect">
            <a:avLst/>
          </a:prstGeom>
          <a:noFill/>
        </p:spPr>
        <p:txBody>
          <a:bodyPr wrap="square" anchor="t" lIns="109728" rIns="109728" tIns="54864" bIns="54864">
            <a:spAutoFit/>
          </a:bodyPr>
          <a:lstStyle/>
          <a:p>
            <a:pPr algn="l"/>
            <a:r>
              <a:rPr sz="4200" b="1" i="0">
                <a:solidFill>
                  <a:srgbClr val="F7F0E1"/>
                </a:solidFill>
                <a:latin typeface="Merriweather"/>
              </a:rPr>
              <a:t>Sisterhood of the Traveling Books</a:t>
            </a:r>
          </a:p>
        </p:txBody>
      </p:sp>
      <p:sp>
        <p:nvSpPr>
          <p:cNvPr id="3" name="TextBox 2"/>
          <p:cNvSpPr txBox="1"/>
          <p:nvPr/>
        </p:nvSpPr>
        <p:spPr>
          <a:xfrm>
            <a:off x="548640" y="2743200"/>
            <a:ext cx="8046720" cy="548640"/>
          </a:xfrm>
          <a:prstGeom prst="rect">
            <a:avLst/>
          </a:prstGeom>
          <a:noFill/>
        </p:spPr>
        <p:txBody>
          <a:bodyPr wrap="square" anchor="t" lIns="109728" rIns="109728" tIns="54864" bIns="54864">
            <a:spAutoFit/>
          </a:bodyPr>
          <a:lstStyle/>
          <a:p>
            <a:pPr algn="l"/>
            <a:r>
              <a:rPr sz="2200" b="0" i="1">
                <a:solidFill>
                  <a:srgbClr val="E3C27F"/>
                </a:solidFill>
                <a:latin typeface="Lato"/>
              </a:rPr>
              <a:t>Read it. Write in it. Pass it on.</a:t>
            </a:r>
          </a:p>
        </p:txBody>
      </p:sp>
      <p:sp>
        <p:nvSpPr>
          <p:cNvPr id="4" name="Rectangle 3"/>
          <p:cNvSpPr/>
          <p:nvPr/>
        </p:nvSpPr>
        <p:spPr>
          <a:xfrm>
            <a:off x="548640" y="4503420"/>
            <a:ext cx="713232" cy="640080"/>
          </a:xfrm>
          <a:prstGeom prst="rect">
            <a:avLst/>
          </a:prstGeom>
          <a:solidFill>
            <a:srgbClr val="2F4A3A"/>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53312" y="4320540"/>
            <a:ext cx="713232" cy="822960"/>
          </a:xfrm>
          <a:prstGeom prst="rect">
            <a:avLst/>
          </a:prstGeom>
          <a:solidFill>
            <a:srgbClr val="B8893B"/>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57984" y="4594860"/>
            <a:ext cx="713232" cy="548640"/>
          </a:xfrm>
          <a:prstGeom prst="rect">
            <a:avLst/>
          </a:prstGeom>
          <a:solidFill>
            <a:srgbClr val="F7F0E1"/>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2656" y="4366260"/>
            <a:ext cx="713232" cy="777240"/>
          </a:xfrm>
          <a:prstGeom prst="rect">
            <a:avLst/>
          </a:prstGeom>
          <a:solidFill>
            <a:srgbClr val="8C3B4A"/>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67328" y="4457700"/>
            <a:ext cx="713232" cy="685800"/>
          </a:xfrm>
          <a:prstGeom prst="rect">
            <a:avLst/>
          </a:prstGeom>
          <a:solidFill>
            <a:srgbClr val="3F6350"/>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0" y="4274820"/>
            <a:ext cx="713232" cy="868680"/>
          </a:xfrm>
          <a:prstGeom prst="rect">
            <a:avLst/>
          </a:prstGeom>
          <a:solidFill>
            <a:srgbClr val="C9A25C"/>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76672" y="4549140"/>
            <a:ext cx="713232" cy="594360"/>
          </a:xfrm>
          <a:prstGeom prst="rect">
            <a:avLst/>
          </a:prstGeom>
          <a:solidFill>
            <a:srgbClr val="2F4A3A"/>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4411980"/>
            <a:ext cx="713232" cy="731520"/>
          </a:xfrm>
          <a:prstGeom prst="rect">
            <a:avLst/>
          </a:prstGeom>
          <a:solidFill>
            <a:srgbClr val="B8893B"/>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86016" y="4320540"/>
            <a:ext cx="713232" cy="822960"/>
          </a:xfrm>
          <a:prstGeom prst="rect">
            <a:avLst/>
          </a:prstGeom>
          <a:solidFill>
            <a:srgbClr val="8C3B4A"/>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90688" y="4503420"/>
            <a:ext cx="713232" cy="640080"/>
          </a:xfrm>
          <a:prstGeom prst="rect">
            <a:avLst/>
          </a:prstGeom>
          <a:solidFill>
            <a:srgbClr val="F7F0E1"/>
          </a:solidFill>
          <a:ln w="19050">
            <a:solidFill>
              <a:srgbClr val="6B27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F4A3A"/>
        </a:solidFill>
        <a:effectLst/>
      </p:bgPr>
    </p:bg>
    <p:spTree>
      <p:nvGrpSpPr>
        <p:cNvPr id="1" name=""/>
        <p:cNvGrpSpPr/>
        <p:nvPr/>
      </p:nvGrpSpPr>
      <p:grpSpPr/>
      <p:sp>
        <p:nvSpPr>
          <p:cNvPr id="2" name="TextBox 1"/>
          <p:cNvSpPr txBox="1"/>
          <p:nvPr/>
        </p:nvSpPr>
        <p:spPr>
          <a:xfrm>
            <a:off x="457200" y="1280160"/>
            <a:ext cx="8229600" cy="1737360"/>
          </a:xfrm>
          <a:prstGeom prst="rect">
            <a:avLst/>
          </a:prstGeom>
          <a:noFill/>
        </p:spPr>
        <p:txBody>
          <a:bodyPr wrap="square" anchor="ctr" lIns="109728" rIns="109728" tIns="54864" bIns="54864">
            <a:spAutoFit/>
          </a:bodyPr>
          <a:lstStyle/>
          <a:p>
            <a:pPr algn="ctr"/>
            <a:r>
              <a:rPr sz="8000" b="1" i="0">
                <a:solidFill>
                  <a:srgbClr val="F7F0E1"/>
                </a:solidFill>
                <a:latin typeface="Merriweather"/>
              </a:rPr>
              <a:t>Libraries.</a:t>
            </a:r>
          </a:p>
        </p:txBody>
      </p:sp>
      <p:sp>
        <p:nvSpPr>
          <p:cNvPr id="3" name="TextBox 2"/>
          <p:cNvSpPr txBox="1"/>
          <p:nvPr/>
        </p:nvSpPr>
        <p:spPr>
          <a:xfrm>
            <a:off x="457200" y="3108960"/>
            <a:ext cx="8229600" cy="640080"/>
          </a:xfrm>
          <a:prstGeom prst="rect">
            <a:avLst/>
          </a:prstGeom>
          <a:noFill/>
        </p:spPr>
        <p:txBody>
          <a:bodyPr wrap="square" anchor="t" lIns="109728" rIns="109728" tIns="54864" bIns="54864">
            <a:spAutoFit/>
          </a:bodyPr>
          <a:lstStyle/>
          <a:p>
            <a:pPr algn="ctr"/>
            <a:r>
              <a:rPr sz="2400" b="0" i="1">
                <a:solidFill>
                  <a:srgbClr val="E3C27F"/>
                </a:solidFill>
                <a:latin typeface="Lato"/>
              </a:rPr>
              <a:t>(They want it 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1143000"/>
          </a:xfrm>
          <a:prstGeom prst="rect">
            <a:avLst/>
          </a:prstGeom>
          <a:noFill/>
        </p:spPr>
        <p:txBody>
          <a:bodyPr wrap="square" anchor="t" lIns="109728" rIns="109728" tIns="54864" bIns="54864">
            <a:spAutoFit/>
          </a:bodyPr>
          <a:lstStyle/>
          <a:p>
            <a:pPr algn="l"/>
            <a:r>
              <a:rPr sz="3200" b="1" i="0">
                <a:solidFill>
                  <a:srgbClr val="2B2220"/>
                </a:solidFill>
                <a:latin typeface="Merriweather"/>
              </a:rPr>
              <a:t>Books sit on shelves. Lent books disappear.</a:t>
            </a:r>
          </a:p>
        </p:txBody>
      </p:sp>
      <p:sp>
        <p:nvSpPr>
          <p:cNvPr id="3" name="Rounded Rectangle 2"/>
          <p:cNvSpPr/>
          <p:nvPr/>
        </p:nvSpPr>
        <p:spPr>
          <a:xfrm>
            <a:off x="457200" y="1828800"/>
            <a:ext cx="2606040" cy="210312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965960"/>
            <a:ext cx="2606040" cy="640080"/>
          </a:xfrm>
          <a:prstGeom prst="rect">
            <a:avLst/>
          </a:prstGeom>
          <a:noFill/>
        </p:spPr>
        <p:txBody>
          <a:bodyPr wrap="square" anchor="t" lIns="109728" rIns="109728" tIns="54864" bIns="54864">
            <a:spAutoFit/>
          </a:bodyPr>
          <a:lstStyle/>
          <a:p>
            <a:pPr algn="l"/>
            <a:r>
              <a:rPr sz="2000" b="1" i="0">
                <a:solidFill>
                  <a:srgbClr val="6B2737"/>
                </a:solidFill>
                <a:latin typeface="Merriweather"/>
              </a:rPr>
              <a:t>On my shelf</a:t>
            </a:r>
          </a:p>
        </p:txBody>
      </p:sp>
      <p:sp>
        <p:nvSpPr>
          <p:cNvPr id="5" name="TextBox 4"/>
          <p:cNvSpPr txBox="1"/>
          <p:nvPr/>
        </p:nvSpPr>
        <p:spPr>
          <a:xfrm>
            <a:off x="457200" y="2651760"/>
            <a:ext cx="2606040" cy="1188719"/>
          </a:xfrm>
          <a:prstGeom prst="rect">
            <a:avLst/>
          </a:prstGeom>
          <a:noFill/>
        </p:spPr>
        <p:txBody>
          <a:bodyPr wrap="square" anchor="t" lIns="109728" rIns="109728" tIns="54864" bIns="54864">
            <a:spAutoFit/>
          </a:bodyPr>
          <a:lstStyle/>
          <a:p>
            <a:pPr algn="l"/>
            <a:r>
              <a:rPr sz="1800" b="0" i="0">
                <a:solidFill>
                  <a:srgbClr val="2B2220"/>
                </a:solidFill>
                <a:latin typeface="Lato"/>
              </a:rPr>
              <a:t>Read once, then dust</a:t>
            </a:r>
          </a:p>
        </p:txBody>
      </p:sp>
      <p:sp>
        <p:nvSpPr>
          <p:cNvPr id="6" name="Rounded Rectangle 5"/>
          <p:cNvSpPr/>
          <p:nvPr/>
        </p:nvSpPr>
        <p:spPr>
          <a:xfrm>
            <a:off x="3246120" y="1828800"/>
            <a:ext cx="2606040" cy="210312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46120" y="1965960"/>
            <a:ext cx="2606040" cy="640080"/>
          </a:xfrm>
          <a:prstGeom prst="rect">
            <a:avLst/>
          </a:prstGeom>
          <a:noFill/>
        </p:spPr>
        <p:txBody>
          <a:bodyPr wrap="square" anchor="t" lIns="109728" rIns="109728" tIns="54864" bIns="54864">
            <a:spAutoFit/>
          </a:bodyPr>
          <a:lstStyle/>
          <a:p>
            <a:pPr algn="l"/>
            <a:r>
              <a:rPr sz="2000" b="1" i="0">
                <a:solidFill>
                  <a:srgbClr val="6B2737"/>
                </a:solidFill>
                <a:latin typeface="Merriweather"/>
              </a:rPr>
              <a:t>Lent to a friend</a:t>
            </a:r>
          </a:p>
        </p:txBody>
      </p:sp>
      <p:sp>
        <p:nvSpPr>
          <p:cNvPr id="8" name="TextBox 7"/>
          <p:cNvSpPr txBox="1"/>
          <p:nvPr/>
        </p:nvSpPr>
        <p:spPr>
          <a:xfrm>
            <a:off x="3246120" y="2651760"/>
            <a:ext cx="2606040" cy="1188719"/>
          </a:xfrm>
          <a:prstGeom prst="rect">
            <a:avLst/>
          </a:prstGeom>
          <a:noFill/>
        </p:spPr>
        <p:txBody>
          <a:bodyPr wrap="square" anchor="t" lIns="109728" rIns="109728" tIns="54864" bIns="54864">
            <a:spAutoFit/>
          </a:bodyPr>
          <a:lstStyle/>
          <a:p>
            <a:pPr algn="l"/>
            <a:r>
              <a:rPr sz="1800" b="0" i="0">
                <a:solidFill>
                  <a:srgbClr val="2B2220"/>
                </a:solidFill>
                <a:latin typeface="Lato"/>
              </a:rPr>
              <a:t>Forgotten, or gone</a:t>
            </a:r>
          </a:p>
        </p:txBody>
      </p:sp>
      <p:sp>
        <p:nvSpPr>
          <p:cNvPr id="9" name="Rounded Rectangle 8"/>
          <p:cNvSpPr/>
          <p:nvPr/>
        </p:nvSpPr>
        <p:spPr>
          <a:xfrm>
            <a:off x="6035040" y="1828800"/>
            <a:ext cx="2606040" cy="210312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1965960"/>
            <a:ext cx="2606040" cy="640080"/>
          </a:xfrm>
          <a:prstGeom prst="rect">
            <a:avLst/>
          </a:prstGeom>
          <a:noFill/>
        </p:spPr>
        <p:txBody>
          <a:bodyPr wrap="square" anchor="t" lIns="109728" rIns="109728" tIns="54864" bIns="54864">
            <a:spAutoFit/>
          </a:bodyPr>
          <a:lstStyle/>
          <a:p>
            <a:pPr algn="l"/>
            <a:r>
              <a:rPr sz="2000" b="1" i="0">
                <a:solidFill>
                  <a:srgbClr val="6B2737"/>
                </a:solidFill>
                <a:latin typeface="Merriweather"/>
              </a:rPr>
              <a:t>Where is it?</a:t>
            </a:r>
          </a:p>
        </p:txBody>
      </p:sp>
      <p:sp>
        <p:nvSpPr>
          <p:cNvPr id="11" name="TextBox 10"/>
          <p:cNvSpPr txBox="1"/>
          <p:nvPr/>
        </p:nvSpPr>
        <p:spPr>
          <a:xfrm>
            <a:off x="6035040" y="2651760"/>
            <a:ext cx="2606040" cy="1188719"/>
          </a:xfrm>
          <a:prstGeom prst="rect">
            <a:avLst/>
          </a:prstGeom>
          <a:noFill/>
        </p:spPr>
        <p:txBody>
          <a:bodyPr wrap="square" anchor="t" lIns="109728" rIns="109728" tIns="54864" bIns="54864">
            <a:spAutoFit/>
          </a:bodyPr>
          <a:lstStyle/>
          <a:p>
            <a:pPr algn="l"/>
            <a:r>
              <a:rPr sz="1800" b="0" i="0">
                <a:solidFill>
                  <a:srgbClr val="2B2220"/>
                </a:solidFill>
                <a:latin typeface="Lato"/>
              </a:rPr>
              <a:t>Nobody remembers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822960"/>
          </a:xfrm>
          <a:prstGeom prst="rect">
            <a:avLst/>
          </a:prstGeom>
          <a:noFill/>
        </p:spPr>
        <p:txBody>
          <a:bodyPr wrap="square" anchor="t" lIns="109728" rIns="109728" tIns="54864" bIns="54864">
            <a:spAutoFit/>
          </a:bodyPr>
          <a:lstStyle/>
          <a:p>
            <a:pPr algn="l"/>
            <a:r>
              <a:rPr sz="3200" b="1" i="0">
                <a:solidFill>
                  <a:srgbClr val="2B2220"/>
                </a:solidFill>
                <a:latin typeface="Merriweather"/>
              </a:rPr>
              <a:t>Library card meets group chat.</a:t>
            </a:r>
          </a:p>
        </p:txBody>
      </p:sp>
      <p:sp>
        <p:nvSpPr>
          <p:cNvPr id="3" name="Rounded Rectangle 2"/>
          <p:cNvSpPr/>
          <p:nvPr/>
        </p:nvSpPr>
        <p:spPr>
          <a:xfrm>
            <a:off x="457200" y="1554480"/>
            <a:ext cx="1965960" cy="2377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91639"/>
            <a:ext cx="1965960" cy="640080"/>
          </a:xfrm>
          <a:prstGeom prst="rect">
            <a:avLst/>
          </a:prstGeom>
          <a:noFill/>
        </p:spPr>
        <p:txBody>
          <a:bodyPr wrap="square" anchor="t" lIns="109728" rIns="109728" tIns="54864" bIns="54864">
            <a:spAutoFit/>
          </a:bodyPr>
          <a:lstStyle/>
          <a:p>
            <a:pPr algn="l"/>
            <a:r>
              <a:rPr sz="1700" b="1" i="0">
                <a:solidFill>
                  <a:srgbClr val="6B2737"/>
                </a:solidFill>
                <a:latin typeface="Merriweather"/>
              </a:rPr>
              <a:t>Lend</a:t>
            </a:r>
          </a:p>
        </p:txBody>
      </p:sp>
      <p:sp>
        <p:nvSpPr>
          <p:cNvPr id="5" name="TextBox 4"/>
          <p:cNvSpPr txBox="1"/>
          <p:nvPr/>
        </p:nvSpPr>
        <p:spPr>
          <a:xfrm>
            <a:off x="457200" y="2377439"/>
            <a:ext cx="1965960" cy="1463040"/>
          </a:xfrm>
          <a:prstGeom prst="rect">
            <a:avLst/>
          </a:prstGeom>
          <a:noFill/>
        </p:spPr>
        <p:txBody>
          <a:bodyPr wrap="square" anchor="t" lIns="109728" rIns="109728" tIns="54864" bIns="54864">
            <a:spAutoFit/>
          </a:bodyPr>
          <a:lstStyle/>
          <a:p>
            <a:pPr algn="l"/>
            <a:r>
              <a:rPr sz="1500" b="0" i="0">
                <a:solidFill>
                  <a:srgbClr val="2B2220"/>
                </a:solidFill>
                <a:latin typeface="Lato"/>
              </a:rPr>
              <a:t>You own it</a:t>
            </a:r>
          </a:p>
        </p:txBody>
      </p:sp>
      <p:sp>
        <p:nvSpPr>
          <p:cNvPr id="6" name="Rounded Rectangle 5"/>
          <p:cNvSpPr/>
          <p:nvPr/>
        </p:nvSpPr>
        <p:spPr>
          <a:xfrm>
            <a:off x="2560320" y="1554480"/>
            <a:ext cx="1965960" cy="2377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0" y="1691639"/>
            <a:ext cx="1965960" cy="640080"/>
          </a:xfrm>
          <a:prstGeom prst="rect">
            <a:avLst/>
          </a:prstGeom>
          <a:noFill/>
        </p:spPr>
        <p:txBody>
          <a:bodyPr wrap="square" anchor="t" lIns="109728" rIns="109728" tIns="54864" bIns="54864">
            <a:spAutoFit/>
          </a:bodyPr>
          <a:lstStyle/>
          <a:p>
            <a:pPr algn="l"/>
            <a:r>
              <a:rPr sz="1700" b="1" i="0">
                <a:solidFill>
                  <a:srgbClr val="6B2737"/>
                </a:solidFill>
                <a:latin typeface="Merriweather"/>
              </a:rPr>
              <a:t>Join the line</a:t>
            </a:r>
          </a:p>
        </p:txBody>
      </p:sp>
      <p:sp>
        <p:nvSpPr>
          <p:cNvPr id="8" name="TextBox 7"/>
          <p:cNvSpPr txBox="1"/>
          <p:nvPr/>
        </p:nvSpPr>
        <p:spPr>
          <a:xfrm>
            <a:off x="2560320" y="2377439"/>
            <a:ext cx="1965960" cy="1463040"/>
          </a:xfrm>
          <a:prstGeom prst="rect">
            <a:avLst/>
          </a:prstGeom>
          <a:noFill/>
        </p:spPr>
        <p:txBody>
          <a:bodyPr wrap="square" anchor="t" lIns="109728" rIns="109728" tIns="54864" bIns="54864">
            <a:spAutoFit/>
          </a:bodyPr>
          <a:lstStyle/>
          <a:p>
            <a:pPr algn="l"/>
            <a:r>
              <a:rPr sz="1500" b="0" i="0">
                <a:solidFill>
                  <a:srgbClr val="2B2220"/>
                </a:solidFill>
                <a:latin typeface="Lato"/>
              </a:rPr>
              <a:t>Friends sign up</a:t>
            </a:r>
          </a:p>
        </p:txBody>
      </p:sp>
      <p:sp>
        <p:nvSpPr>
          <p:cNvPr id="9" name="Rounded Rectangle 8"/>
          <p:cNvSpPr/>
          <p:nvPr/>
        </p:nvSpPr>
        <p:spPr>
          <a:xfrm>
            <a:off x="4663440" y="1554480"/>
            <a:ext cx="1965960" cy="2377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691639"/>
            <a:ext cx="1965960" cy="640080"/>
          </a:xfrm>
          <a:prstGeom prst="rect">
            <a:avLst/>
          </a:prstGeom>
          <a:noFill/>
        </p:spPr>
        <p:txBody>
          <a:bodyPr wrap="square" anchor="t" lIns="109728" rIns="109728" tIns="54864" bIns="54864">
            <a:spAutoFit/>
          </a:bodyPr>
          <a:lstStyle/>
          <a:p>
            <a:pPr algn="l"/>
            <a:r>
              <a:rPr sz="1700" b="1" i="0">
                <a:solidFill>
                  <a:srgbClr val="6B2737"/>
                </a:solidFill>
                <a:latin typeface="Merriweather"/>
              </a:rPr>
              <a:t>Pass it on</a:t>
            </a:r>
          </a:p>
        </p:txBody>
      </p:sp>
      <p:sp>
        <p:nvSpPr>
          <p:cNvPr id="11" name="TextBox 10"/>
          <p:cNvSpPr txBox="1"/>
          <p:nvPr/>
        </p:nvSpPr>
        <p:spPr>
          <a:xfrm>
            <a:off x="4663440" y="2377439"/>
            <a:ext cx="1965960" cy="1463040"/>
          </a:xfrm>
          <a:prstGeom prst="rect">
            <a:avLst/>
          </a:prstGeom>
          <a:noFill/>
        </p:spPr>
        <p:txBody>
          <a:bodyPr wrap="square" anchor="t" lIns="109728" rIns="109728" tIns="54864" bIns="54864">
            <a:spAutoFit/>
          </a:bodyPr>
          <a:lstStyle/>
          <a:p>
            <a:pPr algn="l"/>
            <a:r>
              <a:rPr sz="1500" b="0" i="0">
                <a:solidFill>
                  <a:srgbClr val="2B2220"/>
                </a:solidFill>
                <a:latin typeface="Lato"/>
              </a:rPr>
              <a:t>Leave a letter</a:t>
            </a:r>
          </a:p>
        </p:txBody>
      </p:sp>
      <p:sp>
        <p:nvSpPr>
          <p:cNvPr id="12" name="Rounded Rectangle 11"/>
          <p:cNvSpPr/>
          <p:nvPr/>
        </p:nvSpPr>
        <p:spPr>
          <a:xfrm>
            <a:off x="6766559" y="1554480"/>
            <a:ext cx="1965960" cy="2377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59" y="1691639"/>
            <a:ext cx="1965960" cy="640080"/>
          </a:xfrm>
          <a:prstGeom prst="rect">
            <a:avLst/>
          </a:prstGeom>
          <a:noFill/>
        </p:spPr>
        <p:txBody>
          <a:bodyPr wrap="square" anchor="t" lIns="109728" rIns="109728" tIns="54864" bIns="54864">
            <a:spAutoFit/>
          </a:bodyPr>
          <a:lstStyle/>
          <a:p>
            <a:pPr algn="l"/>
            <a:r>
              <a:rPr sz="1700" b="1" i="0">
                <a:solidFill>
                  <a:srgbClr val="6B2737"/>
                </a:solidFill>
                <a:latin typeface="Merriweather"/>
              </a:rPr>
              <a:t>Come home</a:t>
            </a:r>
          </a:p>
        </p:txBody>
      </p:sp>
      <p:sp>
        <p:nvSpPr>
          <p:cNvPr id="14" name="TextBox 13"/>
          <p:cNvSpPr txBox="1"/>
          <p:nvPr/>
        </p:nvSpPr>
        <p:spPr>
          <a:xfrm>
            <a:off x="6766559" y="2377439"/>
            <a:ext cx="1965960" cy="1463040"/>
          </a:xfrm>
          <a:prstGeom prst="rect">
            <a:avLst/>
          </a:prstGeom>
          <a:noFill/>
        </p:spPr>
        <p:txBody>
          <a:bodyPr wrap="square" anchor="t" lIns="109728" rIns="109728" tIns="54864" bIns="54864">
            <a:spAutoFit/>
          </a:bodyPr>
          <a:lstStyle/>
          <a:p>
            <a:pPr algn="l"/>
            <a:r>
              <a:rPr sz="1500" b="0" i="0">
                <a:solidFill>
                  <a:srgbClr val="2B2220"/>
                </a:solidFill>
                <a:latin typeface="Lato"/>
              </a:rPr>
              <a:t>Back to owner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1143000"/>
          </a:xfrm>
          <a:prstGeom prst="rect">
            <a:avLst/>
          </a:prstGeom>
          <a:noFill/>
        </p:spPr>
        <p:txBody>
          <a:bodyPr wrap="square" anchor="t" lIns="109728" rIns="109728" tIns="54864" bIns="54864">
            <a:spAutoFit/>
          </a:bodyPr>
          <a:lstStyle/>
          <a:p>
            <a:pPr algn="l"/>
            <a:r>
              <a:rPr sz="3200" b="1" i="0">
                <a:solidFill>
                  <a:srgbClr val="2B2220"/>
                </a:solidFill>
                <a:latin typeface="Merriweather"/>
              </a:rPr>
              <a:t>A book from a friend actually gets read.</a:t>
            </a:r>
          </a:p>
        </p:txBody>
      </p:sp>
      <p:sp>
        <p:nvSpPr>
          <p:cNvPr id="3" name="TextBox 2"/>
          <p:cNvSpPr txBox="1"/>
          <p:nvPr/>
        </p:nvSpPr>
        <p:spPr>
          <a:xfrm>
            <a:off x="457200" y="1645920"/>
            <a:ext cx="4206240" cy="2560320"/>
          </a:xfrm>
          <a:prstGeom prst="rect">
            <a:avLst/>
          </a:prstGeom>
          <a:noFill/>
        </p:spPr>
        <p:txBody>
          <a:bodyPr wrap="square" anchor="t" lIns="109728" rIns="109728" tIns="54864" bIns="54864">
            <a:spAutoFit/>
          </a:bodyPr>
          <a:lstStyle/>
          <a:p>
            <a:pPr algn="l">
              <a:spcAft>
                <a:spcPts val="1600"/>
              </a:spcAft>
            </a:pPr>
            <a:r>
              <a:rPr sz="2000" b="0" i="0">
                <a:solidFill>
                  <a:srgbClr val="2B2220"/>
                </a:solidFill>
                <a:latin typeface="Lato"/>
              </a:rPr>
              <a:t>Reading turns social</a:t>
            </a:r>
          </a:p>
          <a:p>
            <a:pPr algn="l">
              <a:spcAft>
                <a:spcPts val="1600"/>
              </a:spcAft>
            </a:pPr>
            <a:r>
              <a:rPr sz="2000" b="0" i="0">
                <a:solidFill>
                  <a:srgbClr val="2B2220"/>
                </a:solidFill>
                <a:latin typeface="Lato"/>
              </a:rPr>
              <a:t>Trying a new book costs nothing</a:t>
            </a:r>
          </a:p>
          <a:p>
            <a:pPr algn="l">
              <a:spcAft>
                <a:spcPts val="1600"/>
              </a:spcAft>
            </a:pPr>
            <a:r>
              <a:rPr sz="2000" b="0" i="0">
                <a:solidFill>
                  <a:srgbClr val="2B2220"/>
                </a:solidFill>
                <a:latin typeface="Lato"/>
              </a:rPr>
              <a:t>One copy in use, not on a shelf</a:t>
            </a:r>
          </a:p>
        </p:txBody>
      </p:sp>
      <p:sp>
        <p:nvSpPr>
          <p:cNvPr id="4" name="Rounded Rectangle 3"/>
          <p:cNvSpPr/>
          <p:nvPr/>
        </p:nvSpPr>
        <p:spPr>
          <a:xfrm>
            <a:off x="5029200" y="1737360"/>
            <a:ext cx="3657600" cy="2194560"/>
          </a:xfrm>
          <a:prstGeom prst="roundRect">
            <a:avLst>
              <a:gd name="adj" fmla="val 8000"/>
            </a:avLst>
          </a:prstGeom>
          <a:solidFill>
            <a:srgbClr val="6B2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1737360"/>
            <a:ext cx="3657600" cy="2194560"/>
          </a:xfrm>
          <a:prstGeom prst="rect">
            <a:avLst/>
          </a:prstGeom>
          <a:noFill/>
        </p:spPr>
        <p:txBody>
          <a:bodyPr wrap="square" anchor="ctr" lIns="109728" rIns="109728" tIns="54864" bIns="54864">
            <a:spAutoFit/>
          </a:bodyPr>
          <a:lstStyle/>
          <a:p>
            <a:pPr algn="ctr"/>
            <a:r>
              <a:rPr sz="2600" b="1" i="1">
                <a:solidFill>
                  <a:srgbClr val="F7F0E1"/>
                </a:solidFill>
                <a:latin typeface="Merriweather"/>
              </a:rPr>
              <a:t>“You have to read this.”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822960"/>
          </a:xfrm>
          <a:prstGeom prst="rect">
            <a:avLst/>
          </a:prstGeom>
          <a:noFill/>
        </p:spPr>
        <p:txBody>
          <a:bodyPr wrap="square" anchor="t" lIns="109728" rIns="109728" tIns="54864" bIns="54864">
            <a:spAutoFit/>
          </a:bodyPr>
          <a:lstStyle/>
          <a:p>
            <a:pPr algn="l"/>
            <a:r>
              <a:rPr sz="3200" b="1" i="0">
                <a:solidFill>
                  <a:srgbClr val="2B2220"/>
                </a:solidFill>
                <a:latin typeface="Merriweather"/>
              </a:rPr>
              <a:t>Friends move. The book follows.</a:t>
            </a:r>
          </a:p>
        </p:txBody>
      </p:sp>
      <p:sp>
        <p:nvSpPr>
          <p:cNvPr id="3" name="Oval 2"/>
          <p:cNvSpPr/>
          <p:nvPr/>
        </p:nvSpPr>
        <p:spPr>
          <a:xfrm>
            <a:off x="502920" y="1737360"/>
            <a:ext cx="1371600" cy="1371600"/>
          </a:xfrm>
          <a:prstGeom prst="ellipse">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737360"/>
            <a:ext cx="1371600" cy="1371600"/>
          </a:xfrm>
          <a:prstGeom prst="rect">
            <a:avLst/>
          </a:prstGeom>
          <a:noFill/>
        </p:spPr>
        <p:txBody>
          <a:bodyPr wrap="square" anchor="ctr" lIns="109728" rIns="109728" tIns="54864" bIns="54864">
            <a:spAutoFit/>
          </a:bodyPr>
          <a:lstStyle/>
          <a:p>
            <a:pPr algn="ctr"/>
            <a:r>
              <a:rPr sz="1400" b="1" i="0">
                <a:solidFill>
                  <a:srgbClr val="2B2220"/>
                </a:solidFill>
                <a:latin typeface="Lato"/>
              </a:rPr>
              <a:t>Home</a:t>
            </a:r>
          </a:p>
        </p:txBody>
      </p:sp>
      <p:sp>
        <p:nvSpPr>
          <p:cNvPr id="5" name="Right Arrow 4"/>
          <p:cNvSpPr/>
          <p:nvPr/>
        </p:nvSpPr>
        <p:spPr>
          <a:xfrm>
            <a:off x="1965960" y="2240280"/>
            <a:ext cx="548640" cy="365760"/>
          </a:xfrm>
          <a:prstGeom prst="rightArrow">
            <a:avLst/>
          </a:prstGeom>
          <a:solidFill>
            <a:srgbClr val="6B2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651760" y="1737360"/>
            <a:ext cx="1371600" cy="1371600"/>
          </a:xfrm>
          <a:prstGeom prst="ellipse">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737360"/>
            <a:ext cx="1371600" cy="1371600"/>
          </a:xfrm>
          <a:prstGeom prst="rect">
            <a:avLst/>
          </a:prstGeom>
          <a:noFill/>
        </p:spPr>
        <p:txBody>
          <a:bodyPr wrap="square" anchor="ctr" lIns="109728" rIns="109728" tIns="54864" bIns="54864">
            <a:spAutoFit/>
          </a:bodyPr>
          <a:lstStyle/>
          <a:p>
            <a:pPr algn="ctr"/>
            <a:r>
              <a:rPr sz="1400" b="1" i="0">
                <a:solidFill>
                  <a:srgbClr val="2B2220"/>
                </a:solidFill>
                <a:latin typeface="Lato"/>
              </a:rPr>
              <a:t>Across town</a:t>
            </a:r>
          </a:p>
        </p:txBody>
      </p:sp>
      <p:sp>
        <p:nvSpPr>
          <p:cNvPr id="8" name="Right Arrow 7"/>
          <p:cNvSpPr/>
          <p:nvPr/>
        </p:nvSpPr>
        <p:spPr>
          <a:xfrm>
            <a:off x="4114800" y="2240280"/>
            <a:ext cx="548640" cy="365760"/>
          </a:xfrm>
          <a:prstGeom prst="rightArrow">
            <a:avLst/>
          </a:prstGeom>
          <a:solidFill>
            <a:srgbClr val="6B2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800600" y="1737360"/>
            <a:ext cx="1371600" cy="1371600"/>
          </a:xfrm>
          <a:prstGeom prst="ellipse">
            <a:avLst/>
          </a:prstGeom>
          <a:solidFill>
            <a:srgbClr val="B88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737360"/>
            <a:ext cx="1371600" cy="1371600"/>
          </a:xfrm>
          <a:prstGeom prst="rect">
            <a:avLst/>
          </a:prstGeom>
          <a:noFill/>
        </p:spPr>
        <p:txBody>
          <a:bodyPr wrap="square" anchor="ctr" lIns="109728" rIns="109728" tIns="54864" bIns="54864">
            <a:spAutoFit/>
          </a:bodyPr>
          <a:lstStyle/>
          <a:p>
            <a:pPr algn="ctr"/>
            <a:r>
              <a:rPr sz="1400" b="1" i="0">
                <a:solidFill>
                  <a:srgbClr val="2B2220"/>
                </a:solidFill>
                <a:latin typeface="Lato"/>
              </a:rPr>
              <a:t>Across the country</a:t>
            </a:r>
          </a:p>
        </p:txBody>
      </p:sp>
      <p:sp>
        <p:nvSpPr>
          <p:cNvPr id="11" name="Right Arrow 10"/>
          <p:cNvSpPr/>
          <p:nvPr/>
        </p:nvSpPr>
        <p:spPr>
          <a:xfrm>
            <a:off x="6263640" y="2240280"/>
            <a:ext cx="548640" cy="365760"/>
          </a:xfrm>
          <a:prstGeom prst="rightArrow">
            <a:avLst/>
          </a:prstGeom>
          <a:solidFill>
            <a:srgbClr val="6B2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49440" y="1737360"/>
            <a:ext cx="1371600" cy="1371600"/>
          </a:xfrm>
          <a:prstGeom prst="ellipse">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1737360"/>
            <a:ext cx="1371600" cy="1371600"/>
          </a:xfrm>
          <a:prstGeom prst="rect">
            <a:avLst/>
          </a:prstGeom>
          <a:noFill/>
        </p:spPr>
        <p:txBody>
          <a:bodyPr wrap="square" anchor="ctr" lIns="109728" rIns="109728" tIns="54864" bIns="54864">
            <a:spAutoFit/>
          </a:bodyPr>
          <a:lstStyle/>
          <a:p>
            <a:pPr algn="ctr"/>
            <a:r>
              <a:rPr sz="1400" b="1" i="0">
                <a:solidFill>
                  <a:srgbClr val="2B2220"/>
                </a:solidFill>
                <a:latin typeface="Lato"/>
              </a:rPr>
              <a:t>Home again</a:t>
            </a:r>
          </a:p>
        </p:txBody>
      </p:sp>
      <p:sp>
        <p:nvSpPr>
          <p:cNvPr id="14" name="TextBox 13"/>
          <p:cNvSpPr txBox="1"/>
          <p:nvPr/>
        </p:nvSpPr>
        <p:spPr>
          <a:xfrm>
            <a:off x="457200" y="3566160"/>
            <a:ext cx="8229600" cy="914400"/>
          </a:xfrm>
          <a:prstGeom prst="rect">
            <a:avLst/>
          </a:prstGeom>
          <a:noFill/>
        </p:spPr>
        <p:txBody>
          <a:bodyPr wrap="square" anchor="t" lIns="109728" rIns="109728" tIns="54864" bIns="54864">
            <a:spAutoFit/>
          </a:bodyPr>
          <a:lstStyle/>
          <a:p>
            <a:pPr algn="ctr"/>
            <a:r>
              <a:rPr sz="2400" b="1" i="0">
                <a:solidFill>
                  <a:srgbClr val="6B2737"/>
                </a:solidFill>
                <a:latin typeface="Merriweather"/>
              </a:rPr>
              <a:t>My friend across the country is still next in 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1143000"/>
          </a:xfrm>
          <a:prstGeom prst="rect">
            <a:avLst/>
          </a:prstGeom>
          <a:noFill/>
        </p:spPr>
        <p:txBody>
          <a:bodyPr wrap="square" anchor="t" lIns="109728" rIns="109728" tIns="54864" bIns="54864">
            <a:spAutoFit/>
          </a:bodyPr>
          <a:lstStyle/>
          <a:p>
            <a:pPr algn="l"/>
            <a:r>
              <a:rPr sz="3200" b="1" i="0">
                <a:solidFill>
                  <a:srgbClr val="2B2220"/>
                </a:solidFill>
                <a:latin typeface="Merriweather"/>
              </a:rPr>
              <a:t>Letters, sealed until the next reader finishes.</a:t>
            </a:r>
          </a:p>
        </p:txBody>
      </p:sp>
      <p:sp>
        <p:nvSpPr>
          <p:cNvPr id="3" name="Rectangle 2"/>
          <p:cNvSpPr/>
          <p:nvPr/>
        </p:nvSpPr>
        <p:spPr>
          <a:xfrm>
            <a:off x="731520" y="2011680"/>
            <a:ext cx="3291840" cy="2194560"/>
          </a:xfrm>
          <a:prstGeom prst="rect">
            <a:avLst/>
          </a:prstGeom>
          <a:solidFill>
            <a:srgbClr val="EBDFC6"/>
          </a:solidFill>
          <a:ln w="25400">
            <a:solidFill>
              <a:srgbClr val="B88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rot="10800000">
            <a:off x="731520" y="2011680"/>
            <a:ext cx="3291840" cy="1371600"/>
          </a:xfrm>
          <a:prstGeom prst="triangle">
            <a:avLst/>
          </a:prstGeom>
          <a:solidFill>
            <a:srgbClr val="DCCBA6"/>
          </a:solidFill>
          <a:ln w="25400">
            <a:solidFill>
              <a:srgbClr val="B88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920240" y="3017520"/>
            <a:ext cx="914400" cy="914400"/>
          </a:xfrm>
          <a:prstGeom prst="ellipse">
            <a:avLst/>
          </a:prstGeom>
          <a:solidFill>
            <a:srgbClr val="6B2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20240" y="3017520"/>
            <a:ext cx="914400" cy="914400"/>
          </a:xfrm>
          <a:prstGeom prst="rect">
            <a:avLst/>
          </a:prstGeom>
          <a:noFill/>
        </p:spPr>
        <p:txBody>
          <a:bodyPr wrap="square" anchor="ctr" lIns="109728" rIns="109728" tIns="54864" bIns="54864">
            <a:spAutoFit/>
          </a:bodyPr>
          <a:lstStyle/>
          <a:p>
            <a:pPr algn="ctr"/>
            <a:r>
              <a:rPr sz="1200" b="1" i="0">
                <a:solidFill>
                  <a:srgbClr val="F7F0E1"/>
                </a:solidFill>
                <a:latin typeface="Lato"/>
              </a:rPr>
              <a:t>sealed</a:t>
            </a:r>
          </a:p>
        </p:txBody>
      </p:sp>
      <p:sp>
        <p:nvSpPr>
          <p:cNvPr id="7" name="TextBox 6"/>
          <p:cNvSpPr txBox="1"/>
          <p:nvPr/>
        </p:nvSpPr>
        <p:spPr>
          <a:xfrm>
            <a:off x="4572000" y="1920240"/>
            <a:ext cx="4114800" cy="2377440"/>
          </a:xfrm>
          <a:prstGeom prst="rect">
            <a:avLst/>
          </a:prstGeom>
          <a:noFill/>
        </p:spPr>
        <p:txBody>
          <a:bodyPr wrap="square" anchor="t" lIns="109728" rIns="109728" tIns="54864" bIns="54864">
            <a:spAutoFit/>
          </a:bodyPr>
          <a:lstStyle/>
          <a:p>
            <a:pPr algn="l">
              <a:spcAft>
                <a:spcPts val="1400"/>
              </a:spcAft>
            </a:pPr>
            <a:r>
              <a:rPr sz="2000" b="0" i="0">
                <a:solidFill>
                  <a:srgbClr val="2B2220"/>
                </a:solidFill>
                <a:latin typeface="Lato"/>
              </a:rPr>
              <a:t>The holder leaves a rating and a note</a:t>
            </a:r>
          </a:p>
          <a:p>
            <a:pPr algn="l">
              <a:spcAft>
                <a:spcPts val="1400"/>
              </a:spcAft>
            </a:pPr>
            <a:r>
              <a:rPr sz="2000" b="0" i="0">
                <a:solidFill>
                  <a:srgbClr val="2B2220"/>
                </a:solidFill>
                <a:latin typeface="Lato"/>
              </a:rPr>
              <a:t>Sealed until the next reader finishes too</a:t>
            </a:r>
          </a:p>
          <a:p>
            <a:pPr algn="l">
              <a:spcAft>
                <a:spcPts val="1400"/>
              </a:spcAft>
            </a:pPr>
            <a:r>
              <a:rPr sz="2000" b="0" i="0">
                <a:solidFill>
                  <a:srgbClr val="2B2220"/>
                </a:solidFill>
                <a:latin typeface="Lato"/>
              </a:rPr>
              <a:t>A slow chat with far-away friends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1143000"/>
          </a:xfrm>
          <a:prstGeom prst="rect">
            <a:avLst/>
          </a:prstGeom>
          <a:noFill/>
        </p:spPr>
        <p:txBody>
          <a:bodyPr wrap="square" anchor="t" lIns="109728" rIns="109728" tIns="54864" bIns="54864">
            <a:spAutoFit/>
          </a:bodyPr>
          <a:lstStyle/>
          <a:p>
            <a:pPr algn="l"/>
            <a:r>
              <a:rPr sz="3000" b="1" i="0">
                <a:solidFill>
                  <a:srgbClr val="2B2220"/>
                </a:solidFill>
                <a:latin typeface="Merriweather"/>
              </a:rPr>
              <a:t>Private by default. History can't be rewritten.</a:t>
            </a:r>
          </a:p>
        </p:txBody>
      </p:sp>
      <p:sp>
        <p:nvSpPr>
          <p:cNvPr id="3" name="Rounded Rectangle 2"/>
          <p:cNvSpPr/>
          <p:nvPr/>
        </p:nvSpPr>
        <p:spPr>
          <a:xfrm>
            <a:off x="457200" y="1600200"/>
            <a:ext cx="4023360" cy="1234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37360"/>
            <a:ext cx="4023360" cy="640080"/>
          </a:xfrm>
          <a:prstGeom prst="rect">
            <a:avLst/>
          </a:prstGeom>
          <a:noFill/>
        </p:spPr>
        <p:txBody>
          <a:bodyPr wrap="square" anchor="t" lIns="109728" rIns="109728" tIns="54864" bIns="54864">
            <a:spAutoFit/>
          </a:bodyPr>
          <a:lstStyle/>
          <a:p>
            <a:pPr algn="l"/>
            <a:r>
              <a:rPr sz="1800" b="1" i="0">
                <a:solidFill>
                  <a:srgbClr val="6B2737"/>
                </a:solidFill>
                <a:latin typeface="Merriweather"/>
              </a:rPr>
              <a:t>Invite-only groups</a:t>
            </a:r>
          </a:p>
        </p:txBody>
      </p:sp>
      <p:sp>
        <p:nvSpPr>
          <p:cNvPr id="5" name="TextBox 4"/>
          <p:cNvSpPr txBox="1"/>
          <p:nvPr/>
        </p:nvSpPr>
        <p:spPr>
          <a:xfrm>
            <a:off x="457200" y="2423160"/>
            <a:ext cx="4023360" cy="320040"/>
          </a:xfrm>
          <a:prstGeom prst="rect">
            <a:avLst/>
          </a:prstGeom>
          <a:noFill/>
        </p:spPr>
        <p:txBody>
          <a:bodyPr wrap="square" anchor="t" lIns="109728" rIns="109728" tIns="54864" bIns="54864">
            <a:spAutoFit/>
          </a:bodyPr>
          <a:lstStyle/>
          <a:p>
            <a:pPr algn="l"/>
            <a:r>
              <a:rPr sz="1500" b="0" i="0">
                <a:solidFill>
                  <a:srgbClr val="2B2220"/>
                </a:solidFill>
                <a:latin typeface="Lato"/>
              </a:rPr>
              <a:t>Members only</a:t>
            </a:r>
          </a:p>
        </p:txBody>
      </p:sp>
      <p:sp>
        <p:nvSpPr>
          <p:cNvPr id="6" name="Rounded Rectangle 5"/>
          <p:cNvSpPr/>
          <p:nvPr/>
        </p:nvSpPr>
        <p:spPr>
          <a:xfrm>
            <a:off x="4663440" y="1600200"/>
            <a:ext cx="4023360" cy="1234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1737360"/>
            <a:ext cx="4023360" cy="640080"/>
          </a:xfrm>
          <a:prstGeom prst="rect">
            <a:avLst/>
          </a:prstGeom>
          <a:noFill/>
        </p:spPr>
        <p:txBody>
          <a:bodyPr wrap="square" anchor="t" lIns="109728" rIns="109728" tIns="54864" bIns="54864">
            <a:spAutoFit/>
          </a:bodyPr>
          <a:lstStyle/>
          <a:p>
            <a:pPr algn="l"/>
            <a:r>
              <a:rPr sz="1800" b="1" i="0">
                <a:solidFill>
                  <a:srgbClr val="6B2737"/>
                </a:solidFill>
                <a:latin typeface="Merriweather"/>
              </a:rPr>
              <a:t>Friend requests</a:t>
            </a:r>
          </a:p>
        </p:txBody>
      </p:sp>
      <p:sp>
        <p:nvSpPr>
          <p:cNvPr id="8" name="TextBox 7"/>
          <p:cNvSpPr txBox="1"/>
          <p:nvPr/>
        </p:nvSpPr>
        <p:spPr>
          <a:xfrm>
            <a:off x="4663440" y="2423160"/>
            <a:ext cx="4023360" cy="320040"/>
          </a:xfrm>
          <a:prstGeom prst="rect">
            <a:avLst/>
          </a:prstGeom>
          <a:noFill/>
        </p:spPr>
        <p:txBody>
          <a:bodyPr wrap="square" anchor="t" lIns="109728" rIns="109728" tIns="54864" bIns="54864">
            <a:spAutoFit/>
          </a:bodyPr>
          <a:lstStyle/>
          <a:p>
            <a:pPr algn="l"/>
            <a:r>
              <a:rPr sz="1500" b="0" i="0">
                <a:solidFill>
                  <a:srgbClr val="2B2220"/>
                </a:solidFill>
                <a:latin typeface="Lato"/>
              </a:rPr>
              <a:t>You accept first</a:t>
            </a:r>
          </a:p>
        </p:txBody>
      </p:sp>
      <p:sp>
        <p:nvSpPr>
          <p:cNvPr id="9" name="Rounded Rectangle 8"/>
          <p:cNvSpPr/>
          <p:nvPr/>
        </p:nvSpPr>
        <p:spPr>
          <a:xfrm>
            <a:off x="457200" y="2971800"/>
            <a:ext cx="4023360" cy="1234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108960"/>
            <a:ext cx="4023360" cy="640080"/>
          </a:xfrm>
          <a:prstGeom prst="rect">
            <a:avLst/>
          </a:prstGeom>
          <a:noFill/>
        </p:spPr>
        <p:txBody>
          <a:bodyPr wrap="square" anchor="t" lIns="109728" rIns="109728" tIns="54864" bIns="54864">
            <a:spAutoFit/>
          </a:bodyPr>
          <a:lstStyle/>
          <a:p>
            <a:pPr algn="l"/>
            <a:r>
              <a:rPr sz="1800" b="1" i="0">
                <a:solidFill>
                  <a:srgbClr val="6B2737"/>
                </a:solidFill>
                <a:latin typeface="Merriweather"/>
              </a:rPr>
              <a:t>No passwords</a:t>
            </a:r>
          </a:p>
        </p:txBody>
      </p:sp>
      <p:sp>
        <p:nvSpPr>
          <p:cNvPr id="11" name="TextBox 10"/>
          <p:cNvSpPr txBox="1"/>
          <p:nvPr/>
        </p:nvSpPr>
        <p:spPr>
          <a:xfrm>
            <a:off x="457200" y="3794760"/>
            <a:ext cx="4023360" cy="320040"/>
          </a:xfrm>
          <a:prstGeom prst="rect">
            <a:avLst/>
          </a:prstGeom>
          <a:noFill/>
        </p:spPr>
        <p:txBody>
          <a:bodyPr wrap="square" anchor="t" lIns="109728" rIns="109728" tIns="54864" bIns="54864">
            <a:spAutoFit/>
          </a:bodyPr>
          <a:lstStyle/>
          <a:p>
            <a:pPr algn="l"/>
            <a:r>
              <a:rPr sz="1500" b="0" i="0">
                <a:solidFill>
                  <a:srgbClr val="2B2220"/>
                </a:solidFill>
                <a:latin typeface="Lato"/>
              </a:rPr>
              <a:t>Emailed sign-in link</a:t>
            </a:r>
          </a:p>
        </p:txBody>
      </p:sp>
      <p:sp>
        <p:nvSpPr>
          <p:cNvPr id="12" name="Rounded Rectangle 11"/>
          <p:cNvSpPr/>
          <p:nvPr/>
        </p:nvSpPr>
        <p:spPr>
          <a:xfrm>
            <a:off x="4663440" y="2971800"/>
            <a:ext cx="4023360" cy="1234440"/>
          </a:xfrm>
          <a:prstGeom prst="roundRect">
            <a:avLst>
              <a:gd name="adj" fmla="val 8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3108960"/>
            <a:ext cx="4023360" cy="640080"/>
          </a:xfrm>
          <a:prstGeom prst="rect">
            <a:avLst/>
          </a:prstGeom>
          <a:noFill/>
        </p:spPr>
        <p:txBody>
          <a:bodyPr wrap="square" anchor="t" lIns="109728" rIns="109728" tIns="54864" bIns="54864">
            <a:spAutoFit/>
          </a:bodyPr>
          <a:lstStyle/>
          <a:p>
            <a:pPr algn="l"/>
            <a:r>
              <a:rPr sz="1800" b="1" i="0">
                <a:solidFill>
                  <a:srgbClr val="6B2737"/>
                </a:solidFill>
                <a:latin typeface="Merriweather"/>
              </a:rPr>
              <a:t>Append-only log</a:t>
            </a:r>
          </a:p>
        </p:txBody>
      </p:sp>
      <p:sp>
        <p:nvSpPr>
          <p:cNvPr id="14" name="TextBox 13"/>
          <p:cNvSpPr txBox="1"/>
          <p:nvPr/>
        </p:nvSpPr>
        <p:spPr>
          <a:xfrm>
            <a:off x="4663440" y="3794760"/>
            <a:ext cx="4023360" cy="320040"/>
          </a:xfrm>
          <a:prstGeom prst="rect">
            <a:avLst/>
          </a:prstGeom>
          <a:noFill/>
        </p:spPr>
        <p:txBody>
          <a:bodyPr wrap="square" anchor="t" lIns="109728" rIns="109728" tIns="54864" bIns="54864">
            <a:spAutoFit/>
          </a:bodyPr>
          <a:lstStyle/>
          <a:p>
            <a:pPr algn="l"/>
            <a:r>
              <a:rPr sz="1500" b="0" i="0">
                <a:solidFill>
                  <a:srgbClr val="2B2220"/>
                </a:solidFill>
                <a:latin typeface="Lato"/>
              </a:rPr>
              <a:t>Handoffs stay on record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anchor="t" lIns="109728" rIns="109728" tIns="54864" bIns="54864">
            <a:spAutoFit/>
          </a:bodyPr>
          <a:lstStyle/>
          <a:p>
            <a:pPr algn="l"/>
            <a:r>
              <a:rPr sz="3200" b="1" i="0">
                <a:solidFill>
                  <a:srgbClr val="2B2220"/>
                </a:solidFill>
                <a:latin typeface="Merriweather"/>
              </a:rPr>
              <a:t>App walkthrough</a:t>
            </a:r>
          </a:p>
        </p:txBody>
      </p:sp>
      <p:sp>
        <p:nvSpPr>
          <p:cNvPr id="3" name="Rounded Rectangle 2"/>
          <p:cNvSpPr/>
          <p:nvPr/>
        </p:nvSpPr>
        <p:spPr>
          <a:xfrm>
            <a:off x="914400" y="1188720"/>
            <a:ext cx="2011680" cy="2926080"/>
          </a:xfrm>
          <a:prstGeom prst="roundRect">
            <a:avLst>
              <a:gd name="adj" fmla="val 10000"/>
            </a:avLst>
          </a:prstGeom>
          <a:solidFill>
            <a:srgbClr val="E4D8BD"/>
          </a:solidFill>
          <a:ln w="31750">
            <a:solidFill>
              <a:srgbClr val="2B2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2011680" cy="731520"/>
          </a:xfrm>
          <a:prstGeom prst="rect">
            <a:avLst/>
          </a:prstGeom>
          <a:noFill/>
        </p:spPr>
        <p:txBody>
          <a:bodyPr wrap="square" anchor="t" lIns="109728" rIns="109728" tIns="54864" bIns="54864">
            <a:spAutoFit/>
          </a:bodyPr>
          <a:lstStyle/>
          <a:p>
            <a:pPr algn="ctr"/>
            <a:r>
              <a:rPr sz="1400" b="0" i="0">
                <a:solidFill>
                  <a:srgbClr val="7A6A5F"/>
                </a:solidFill>
                <a:latin typeface="Lato"/>
              </a:rPr>
              <a:t>Screenshot</a:t>
            </a:r>
          </a:p>
        </p:txBody>
      </p:sp>
      <p:sp>
        <p:nvSpPr>
          <p:cNvPr id="5" name="TextBox 4"/>
          <p:cNvSpPr txBox="1"/>
          <p:nvPr/>
        </p:nvSpPr>
        <p:spPr>
          <a:xfrm>
            <a:off x="914400" y="4160520"/>
            <a:ext cx="2011680" cy="365760"/>
          </a:xfrm>
          <a:prstGeom prst="rect">
            <a:avLst/>
          </a:prstGeom>
          <a:noFill/>
        </p:spPr>
        <p:txBody>
          <a:bodyPr wrap="square" anchor="t" lIns="109728" rIns="109728" tIns="54864" bIns="54864">
            <a:spAutoFit/>
          </a:bodyPr>
          <a:lstStyle/>
          <a:p>
            <a:pPr algn="ctr"/>
            <a:r>
              <a:rPr sz="1600" b="1" i="0">
                <a:solidFill>
                  <a:srgbClr val="6B2737"/>
                </a:solidFill>
                <a:latin typeface="Lato"/>
              </a:rPr>
              <a:t>Lend a book</a:t>
            </a:r>
          </a:p>
        </p:txBody>
      </p:sp>
      <p:sp>
        <p:nvSpPr>
          <p:cNvPr id="6" name="Rounded Rectangle 5"/>
          <p:cNvSpPr/>
          <p:nvPr/>
        </p:nvSpPr>
        <p:spPr>
          <a:xfrm>
            <a:off x="3566160" y="1188720"/>
            <a:ext cx="2011680" cy="2926080"/>
          </a:xfrm>
          <a:prstGeom prst="roundRect">
            <a:avLst>
              <a:gd name="adj" fmla="val 10000"/>
            </a:avLst>
          </a:prstGeom>
          <a:solidFill>
            <a:srgbClr val="E4D8BD"/>
          </a:solidFill>
          <a:ln w="31750">
            <a:solidFill>
              <a:srgbClr val="2B2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2286000"/>
            <a:ext cx="2011680" cy="731520"/>
          </a:xfrm>
          <a:prstGeom prst="rect">
            <a:avLst/>
          </a:prstGeom>
          <a:noFill/>
        </p:spPr>
        <p:txBody>
          <a:bodyPr wrap="square" anchor="t" lIns="109728" rIns="109728" tIns="54864" bIns="54864">
            <a:spAutoFit/>
          </a:bodyPr>
          <a:lstStyle/>
          <a:p>
            <a:pPr algn="ctr"/>
            <a:r>
              <a:rPr sz="1400" b="0" i="0">
                <a:solidFill>
                  <a:srgbClr val="7A6A5F"/>
                </a:solidFill>
                <a:latin typeface="Lato"/>
              </a:rPr>
              <a:t>Screenshot</a:t>
            </a:r>
          </a:p>
        </p:txBody>
      </p:sp>
      <p:sp>
        <p:nvSpPr>
          <p:cNvPr id="8" name="TextBox 7"/>
          <p:cNvSpPr txBox="1"/>
          <p:nvPr/>
        </p:nvSpPr>
        <p:spPr>
          <a:xfrm>
            <a:off x="3566160" y="4160520"/>
            <a:ext cx="2011680" cy="365760"/>
          </a:xfrm>
          <a:prstGeom prst="rect">
            <a:avLst/>
          </a:prstGeom>
          <a:noFill/>
        </p:spPr>
        <p:txBody>
          <a:bodyPr wrap="square" anchor="t" lIns="109728" rIns="109728" tIns="54864" bIns="54864">
            <a:spAutoFit/>
          </a:bodyPr>
          <a:lstStyle/>
          <a:p>
            <a:pPr algn="ctr"/>
            <a:r>
              <a:rPr sz="1600" b="1" i="0">
                <a:solidFill>
                  <a:srgbClr val="6B2737"/>
                </a:solidFill>
                <a:latin typeface="Lato"/>
              </a:rPr>
              <a:t>Join the line</a:t>
            </a:r>
          </a:p>
        </p:txBody>
      </p:sp>
      <p:sp>
        <p:nvSpPr>
          <p:cNvPr id="9" name="Rounded Rectangle 8"/>
          <p:cNvSpPr/>
          <p:nvPr/>
        </p:nvSpPr>
        <p:spPr>
          <a:xfrm>
            <a:off x="6217920" y="1188720"/>
            <a:ext cx="2011680" cy="2926080"/>
          </a:xfrm>
          <a:prstGeom prst="roundRect">
            <a:avLst>
              <a:gd name="adj" fmla="val 10000"/>
            </a:avLst>
          </a:prstGeom>
          <a:solidFill>
            <a:srgbClr val="E4D8BD"/>
          </a:solidFill>
          <a:ln w="31750">
            <a:solidFill>
              <a:srgbClr val="2B2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286000"/>
            <a:ext cx="2011680" cy="731520"/>
          </a:xfrm>
          <a:prstGeom prst="rect">
            <a:avLst/>
          </a:prstGeom>
          <a:noFill/>
        </p:spPr>
        <p:txBody>
          <a:bodyPr wrap="square" anchor="t" lIns="109728" rIns="109728" tIns="54864" bIns="54864">
            <a:spAutoFit/>
          </a:bodyPr>
          <a:lstStyle/>
          <a:p>
            <a:pPr algn="ctr"/>
            <a:r>
              <a:rPr sz="1400" b="0" i="0">
                <a:solidFill>
                  <a:srgbClr val="7A6A5F"/>
                </a:solidFill>
                <a:latin typeface="Lato"/>
              </a:rPr>
              <a:t>Screenshot</a:t>
            </a:r>
          </a:p>
        </p:txBody>
      </p:sp>
      <p:sp>
        <p:nvSpPr>
          <p:cNvPr id="11" name="TextBox 10"/>
          <p:cNvSpPr txBox="1"/>
          <p:nvPr/>
        </p:nvSpPr>
        <p:spPr>
          <a:xfrm>
            <a:off x="6217920" y="4160520"/>
            <a:ext cx="2011680" cy="365760"/>
          </a:xfrm>
          <a:prstGeom prst="rect">
            <a:avLst/>
          </a:prstGeom>
          <a:noFill/>
        </p:spPr>
        <p:txBody>
          <a:bodyPr wrap="square" anchor="t" lIns="109728" rIns="109728" tIns="54864" bIns="54864">
            <a:spAutoFit/>
          </a:bodyPr>
          <a:lstStyle/>
          <a:p>
            <a:pPr algn="ctr"/>
            <a:r>
              <a:rPr sz="1600" b="1" i="0">
                <a:solidFill>
                  <a:srgbClr val="6B2737"/>
                </a:solidFill>
                <a:latin typeface="Lato"/>
              </a:rPr>
              <a:t>Pass it 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1005840"/>
          </a:xfrm>
          <a:prstGeom prst="rect">
            <a:avLst/>
          </a:prstGeom>
          <a:noFill/>
        </p:spPr>
        <p:txBody>
          <a:bodyPr wrap="square" anchor="t" lIns="109728" rIns="109728" tIns="54864" bIns="54864">
            <a:spAutoFit/>
          </a:bodyPr>
          <a:lstStyle/>
          <a:p>
            <a:pPr algn="l"/>
            <a:r>
              <a:rPr sz="2800" b="1" i="0">
                <a:solidFill>
                  <a:srgbClr val="2B2220"/>
                </a:solidFill>
                <a:latin typeface="Merriweather"/>
              </a:rPr>
              <a:t>Phase 2: every free book recruits its next reader.</a:t>
            </a:r>
          </a:p>
        </p:txBody>
      </p:sp>
      <p:sp>
        <p:nvSpPr>
          <p:cNvPr id="3" name="Rectangle 2"/>
          <p:cNvSpPr/>
          <p:nvPr/>
        </p:nvSpPr>
        <p:spPr>
          <a:xfrm>
            <a:off x="822960" y="1554480"/>
            <a:ext cx="1280160" cy="1554480"/>
          </a:xfrm>
          <a:prstGeom prst="rect">
            <a:avLst/>
          </a:prstGeom>
          <a:solidFill>
            <a:srgbClr val="2F4A3A"/>
          </a:solidFill>
          <a:ln w="25400">
            <a:solidFill>
              <a:srgbClr val="2B2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554480"/>
            <a:ext cx="164592" cy="1554480"/>
          </a:xfrm>
          <a:prstGeom prst="rect">
            <a:avLst/>
          </a:prstGeom>
          <a:solidFill>
            <a:srgbClr val="6B2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34440" y="2148840"/>
            <a:ext cx="548640" cy="548640"/>
          </a:xfrm>
          <a:prstGeom prst="ellipse">
            <a:avLst/>
          </a:prstGeom>
          <a:solidFill>
            <a:srgbClr val="B8893B"/>
          </a:solidFill>
          <a:ln w="19050">
            <a:solidFill>
              <a:srgbClr val="2B2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154680"/>
            <a:ext cx="2011680" cy="365760"/>
          </a:xfrm>
          <a:prstGeom prst="rect">
            <a:avLst/>
          </a:prstGeom>
          <a:noFill/>
        </p:spPr>
        <p:txBody>
          <a:bodyPr wrap="square" anchor="t" lIns="109728" rIns="109728" tIns="54864" bIns="54864">
            <a:spAutoFit/>
          </a:bodyPr>
          <a:lstStyle/>
          <a:p>
            <a:pPr algn="ctr"/>
            <a:r>
              <a:rPr sz="1400" b="0" i="0">
                <a:solidFill>
                  <a:srgbClr val="2B2220"/>
                </a:solidFill>
                <a:latin typeface="Lato"/>
              </a:rPr>
              <a:t>Book + NFC sticker</a:t>
            </a:r>
          </a:p>
        </p:txBody>
      </p:sp>
      <p:sp>
        <p:nvSpPr>
          <p:cNvPr id="7" name="Right Arrow 6"/>
          <p:cNvSpPr/>
          <p:nvPr/>
        </p:nvSpPr>
        <p:spPr>
          <a:xfrm>
            <a:off x="2926080" y="2148840"/>
            <a:ext cx="1280160" cy="457200"/>
          </a:xfrm>
          <a:prstGeom prst="rightArrow">
            <a:avLst/>
          </a:prstGeom>
          <a:solidFill>
            <a:srgbClr val="6B2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2651760"/>
            <a:ext cx="1645920" cy="365760"/>
          </a:xfrm>
          <a:prstGeom prst="rect">
            <a:avLst/>
          </a:prstGeom>
          <a:noFill/>
        </p:spPr>
        <p:txBody>
          <a:bodyPr wrap="square" anchor="t" lIns="109728" rIns="109728" tIns="54864" bIns="54864">
            <a:spAutoFit/>
          </a:bodyPr>
          <a:lstStyle/>
          <a:p>
            <a:pPr algn="ctr"/>
            <a:r>
              <a:rPr sz="1600" b="1" i="0">
                <a:solidFill>
                  <a:srgbClr val="6B2737"/>
                </a:solidFill>
                <a:latin typeface="Lato"/>
              </a:rPr>
              <a:t>Tap</a:t>
            </a:r>
          </a:p>
        </p:txBody>
      </p:sp>
      <p:sp>
        <p:nvSpPr>
          <p:cNvPr id="9" name="Rounded Rectangle 8"/>
          <p:cNvSpPr/>
          <p:nvPr/>
        </p:nvSpPr>
        <p:spPr>
          <a:xfrm>
            <a:off x="4754880" y="1417320"/>
            <a:ext cx="1188720" cy="1828800"/>
          </a:xfrm>
          <a:prstGeom prst="roundRect">
            <a:avLst>
              <a:gd name="adj" fmla="val 15000"/>
            </a:avLst>
          </a:prstGeom>
          <a:solidFill>
            <a:srgbClr val="2B2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46320" y="1600200"/>
            <a:ext cx="1005840" cy="1463040"/>
          </a:xfrm>
          <a:prstGeom prst="rect">
            <a:avLst/>
          </a:prstGeom>
          <a:solidFill>
            <a:srgbClr val="F7F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600200"/>
            <a:ext cx="1005840" cy="1463040"/>
          </a:xfrm>
          <a:prstGeom prst="rect">
            <a:avLst/>
          </a:prstGeom>
          <a:noFill/>
        </p:spPr>
        <p:txBody>
          <a:bodyPr wrap="square" anchor="ctr" lIns="109728" rIns="109728" tIns="54864" bIns="54864">
            <a:spAutoFit/>
          </a:bodyPr>
          <a:lstStyle/>
          <a:p>
            <a:pPr algn="ctr"/>
            <a:r>
              <a:rPr sz="1200" b="1" i="0">
                <a:solidFill>
                  <a:srgbClr val="6B2737"/>
                </a:solidFill>
                <a:latin typeface="Lato"/>
              </a:rPr>
              <a:t>Its journey</a:t>
            </a:r>
          </a:p>
        </p:txBody>
      </p:sp>
      <p:sp>
        <p:nvSpPr>
          <p:cNvPr id="12" name="TextBox 11"/>
          <p:cNvSpPr txBox="1"/>
          <p:nvPr/>
        </p:nvSpPr>
        <p:spPr>
          <a:xfrm>
            <a:off x="4480560" y="3246120"/>
            <a:ext cx="1737360" cy="365760"/>
          </a:xfrm>
          <a:prstGeom prst="rect">
            <a:avLst/>
          </a:prstGeom>
          <a:noFill/>
        </p:spPr>
        <p:txBody>
          <a:bodyPr wrap="square" anchor="t" lIns="109728" rIns="109728" tIns="54864" bIns="54864">
            <a:spAutoFit/>
          </a:bodyPr>
          <a:lstStyle/>
          <a:p>
            <a:pPr algn="ctr"/>
            <a:r>
              <a:rPr sz="1400" b="0" i="0">
                <a:solidFill>
                  <a:srgbClr val="2B2220"/>
                </a:solidFill>
                <a:latin typeface="Lato"/>
              </a:rPr>
              <a:t>Phone</a:t>
            </a:r>
          </a:p>
        </p:txBody>
      </p:sp>
      <p:sp>
        <p:nvSpPr>
          <p:cNvPr id="13" name="TextBox 12"/>
          <p:cNvSpPr txBox="1"/>
          <p:nvPr/>
        </p:nvSpPr>
        <p:spPr>
          <a:xfrm>
            <a:off x="6400800" y="1645920"/>
            <a:ext cx="2286000" cy="1645920"/>
          </a:xfrm>
          <a:prstGeom prst="rect">
            <a:avLst/>
          </a:prstGeom>
          <a:noFill/>
        </p:spPr>
        <p:txBody>
          <a:bodyPr wrap="square" anchor="t" lIns="109728" rIns="109728" tIns="54864" bIns="54864">
            <a:spAutoFit/>
          </a:bodyPr>
          <a:lstStyle/>
          <a:p>
            <a:pPr algn="l">
              <a:spcAft>
                <a:spcPts val="1000"/>
              </a:spcAft>
            </a:pPr>
            <a:r>
              <a:rPr sz="1800" b="1" i="0">
                <a:solidFill>
                  <a:srgbClr val="6B2737"/>
                </a:solidFill>
                <a:latin typeface="Lato"/>
              </a:rPr>
              <a:t>Sticker: about 30¢</a:t>
            </a:r>
          </a:p>
          <a:p>
            <a:pPr algn="l">
              <a:spcAft>
                <a:spcPts val="1000"/>
              </a:spcAft>
            </a:pPr>
            <a:r>
              <a:rPr sz="1800" b="1" i="0">
                <a:solidFill>
                  <a:srgbClr val="6B2737"/>
                </a:solidFill>
                <a:latin typeface="Lato"/>
              </a:rPr>
              <a:t>No NFC? QR code</a:t>
            </a:r>
          </a:p>
        </p:txBody>
      </p:sp>
      <p:sp>
        <p:nvSpPr>
          <p:cNvPr id="14" name="Rounded Rectangle 13"/>
          <p:cNvSpPr/>
          <p:nvPr/>
        </p:nvSpPr>
        <p:spPr>
          <a:xfrm>
            <a:off x="502920" y="3931920"/>
            <a:ext cx="1463040" cy="548640"/>
          </a:xfrm>
          <a:prstGeom prst="roundRect">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931920"/>
            <a:ext cx="1463040" cy="548640"/>
          </a:xfrm>
          <a:prstGeom prst="rect">
            <a:avLst/>
          </a:prstGeom>
          <a:noFill/>
        </p:spPr>
        <p:txBody>
          <a:bodyPr wrap="square" anchor="ctr" lIns="109728" rIns="109728" tIns="54864" bIns="54864">
            <a:spAutoFit/>
          </a:bodyPr>
          <a:lstStyle/>
          <a:p>
            <a:pPr algn="ctr"/>
            <a:r>
              <a:rPr sz="1400" b="1" i="0">
                <a:solidFill>
                  <a:srgbClr val="2B2220"/>
                </a:solidFill>
                <a:latin typeface="Lato"/>
              </a:rPr>
              <a:t>Give away</a:t>
            </a:r>
          </a:p>
        </p:txBody>
      </p:sp>
      <p:sp>
        <p:nvSpPr>
          <p:cNvPr id="16" name="Rounded Rectangle 15"/>
          <p:cNvSpPr/>
          <p:nvPr/>
        </p:nvSpPr>
        <p:spPr>
          <a:xfrm>
            <a:off x="2194560" y="3931920"/>
            <a:ext cx="1463040" cy="548640"/>
          </a:xfrm>
          <a:prstGeom prst="roundRect">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3931920"/>
            <a:ext cx="1463040" cy="548640"/>
          </a:xfrm>
          <a:prstGeom prst="rect">
            <a:avLst/>
          </a:prstGeom>
          <a:noFill/>
        </p:spPr>
        <p:txBody>
          <a:bodyPr wrap="square" anchor="ctr" lIns="109728" rIns="109728" tIns="54864" bIns="54864">
            <a:spAutoFit/>
          </a:bodyPr>
          <a:lstStyle/>
          <a:p>
            <a:pPr algn="ctr"/>
            <a:r>
              <a:rPr sz="1400" b="1" i="0">
                <a:solidFill>
                  <a:srgbClr val="2B2220"/>
                </a:solidFill>
                <a:latin typeface="Lato"/>
              </a:rPr>
              <a:t>Tap</a:t>
            </a:r>
          </a:p>
        </p:txBody>
      </p:sp>
      <p:sp>
        <p:nvSpPr>
          <p:cNvPr id="18" name="Rounded Rectangle 17"/>
          <p:cNvSpPr/>
          <p:nvPr/>
        </p:nvSpPr>
        <p:spPr>
          <a:xfrm>
            <a:off x="3886200" y="3931920"/>
            <a:ext cx="1463040" cy="548640"/>
          </a:xfrm>
          <a:prstGeom prst="roundRect">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86200" y="3931920"/>
            <a:ext cx="1463040" cy="548640"/>
          </a:xfrm>
          <a:prstGeom prst="rect">
            <a:avLst/>
          </a:prstGeom>
          <a:noFill/>
        </p:spPr>
        <p:txBody>
          <a:bodyPr wrap="square" anchor="ctr" lIns="109728" rIns="109728" tIns="54864" bIns="54864">
            <a:spAutoFit/>
          </a:bodyPr>
          <a:lstStyle/>
          <a:p>
            <a:pPr algn="ctr"/>
            <a:r>
              <a:rPr sz="1400" b="1" i="0">
                <a:solidFill>
                  <a:srgbClr val="2B2220"/>
                </a:solidFill>
                <a:latin typeface="Lato"/>
              </a:rPr>
              <a:t>Sign up</a:t>
            </a:r>
          </a:p>
        </p:txBody>
      </p:sp>
      <p:sp>
        <p:nvSpPr>
          <p:cNvPr id="20" name="Rounded Rectangle 19"/>
          <p:cNvSpPr/>
          <p:nvPr/>
        </p:nvSpPr>
        <p:spPr>
          <a:xfrm>
            <a:off x="5577840" y="3931920"/>
            <a:ext cx="1463040" cy="548640"/>
          </a:xfrm>
          <a:prstGeom prst="roundRect">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7840" y="3931920"/>
            <a:ext cx="1463040" cy="548640"/>
          </a:xfrm>
          <a:prstGeom prst="rect">
            <a:avLst/>
          </a:prstGeom>
          <a:noFill/>
        </p:spPr>
        <p:txBody>
          <a:bodyPr wrap="square" anchor="ctr" lIns="109728" rIns="109728" tIns="54864" bIns="54864">
            <a:spAutoFit/>
          </a:bodyPr>
          <a:lstStyle/>
          <a:p>
            <a:pPr algn="ctr"/>
            <a:r>
              <a:rPr sz="1400" b="1" i="0">
                <a:solidFill>
                  <a:srgbClr val="2B2220"/>
                </a:solidFill>
                <a:latin typeface="Lato"/>
              </a:rPr>
              <a:t>Read</a:t>
            </a:r>
          </a:p>
        </p:txBody>
      </p:sp>
      <p:sp>
        <p:nvSpPr>
          <p:cNvPr id="22" name="Rounded Rectangle 21"/>
          <p:cNvSpPr/>
          <p:nvPr/>
        </p:nvSpPr>
        <p:spPr>
          <a:xfrm>
            <a:off x="7269480" y="3931920"/>
            <a:ext cx="1463040" cy="548640"/>
          </a:xfrm>
          <a:prstGeom prst="roundRect">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3931920"/>
            <a:ext cx="1463040" cy="548640"/>
          </a:xfrm>
          <a:prstGeom prst="rect">
            <a:avLst/>
          </a:prstGeom>
          <a:noFill/>
        </p:spPr>
        <p:txBody>
          <a:bodyPr wrap="square" anchor="ctr" lIns="109728" rIns="109728" tIns="54864" bIns="54864">
            <a:spAutoFit/>
          </a:bodyPr>
          <a:lstStyle/>
          <a:p>
            <a:pPr algn="ctr"/>
            <a:r>
              <a:rPr sz="1400" b="1" i="0">
                <a:solidFill>
                  <a:srgbClr val="2B2220"/>
                </a:solidFill>
                <a:latin typeface="Lato"/>
              </a:rPr>
              <a:t>Pass 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0E1"/>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anchor="t" lIns="109728" rIns="109728" tIns="54864" bIns="54864">
            <a:spAutoFit/>
          </a:bodyPr>
          <a:lstStyle/>
          <a:p>
            <a:pPr algn="l"/>
            <a:r>
              <a:rPr sz="3200" b="1" i="0">
                <a:solidFill>
                  <a:srgbClr val="2B2220"/>
                </a:solidFill>
                <a:latin typeface="Merriweather"/>
              </a:rPr>
              <a:t>Where We're At</a:t>
            </a:r>
          </a:p>
        </p:txBody>
      </p:sp>
      <p:sp>
        <p:nvSpPr>
          <p:cNvPr id="3" name="Rounded Rectangle 2"/>
          <p:cNvSpPr/>
          <p:nvPr/>
        </p:nvSpPr>
        <p:spPr>
          <a:xfrm>
            <a:off x="457200" y="1280160"/>
            <a:ext cx="2606040" cy="3017520"/>
          </a:xfrm>
          <a:prstGeom prst="roundRect">
            <a:avLst>
              <a:gd name="adj" fmla="val 6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2606040" cy="548640"/>
          </a:xfrm>
          <a:prstGeom prst="rect">
            <a:avLst/>
          </a:prstGeom>
          <a:noFill/>
        </p:spPr>
        <p:txBody>
          <a:bodyPr wrap="square" anchor="t" lIns="109728" rIns="109728" tIns="54864" bIns="54864">
            <a:spAutoFit/>
          </a:bodyPr>
          <a:lstStyle/>
          <a:p>
            <a:pPr algn="l"/>
            <a:r>
              <a:rPr sz="2600" b="1" i="0">
                <a:solidFill>
                  <a:srgbClr val="6B2737"/>
                </a:solidFill>
                <a:latin typeface="Merriweather"/>
              </a:rPr>
              <a:t>Now</a:t>
            </a:r>
          </a:p>
        </p:txBody>
      </p:sp>
      <p:sp>
        <p:nvSpPr>
          <p:cNvPr id="5" name="TextBox 4"/>
          <p:cNvSpPr txBox="1"/>
          <p:nvPr/>
        </p:nvSpPr>
        <p:spPr>
          <a:xfrm>
            <a:off x="457200" y="2011680"/>
            <a:ext cx="2606040" cy="2194560"/>
          </a:xfrm>
          <a:prstGeom prst="rect">
            <a:avLst/>
          </a:prstGeom>
          <a:noFill/>
        </p:spPr>
        <p:txBody>
          <a:bodyPr wrap="square" anchor="t" lIns="109728" rIns="109728" tIns="54864" bIns="54864">
            <a:spAutoFit/>
          </a:bodyPr>
          <a:lstStyle/>
          <a:p>
            <a:pPr algn="l">
              <a:spcAft>
                <a:spcPts val="1000"/>
              </a:spcAft>
            </a:pPr>
            <a:r>
              <a:rPr sz="1600" b="0" i="0">
                <a:solidFill>
                  <a:srgbClr val="2B2220"/>
                </a:solidFill>
                <a:latin typeface="Lato"/>
              </a:rPr>
              <a:t>Live app</a:t>
            </a:r>
          </a:p>
          <a:p>
            <a:pPr algn="l">
              <a:spcAft>
                <a:spcPts val="1000"/>
              </a:spcAft>
            </a:pPr>
            <a:r>
              <a:rPr sz="1600" b="0" i="0">
                <a:solidFill>
                  <a:srgbClr val="2B2220"/>
                </a:solidFill>
                <a:latin typeface="Lato"/>
              </a:rPr>
              <a:t>Letters work</a:t>
            </a:r>
          </a:p>
          <a:p>
            <a:pPr algn="l">
              <a:spcAft>
                <a:spcPts val="1000"/>
              </a:spcAft>
            </a:pPr>
            <a:r>
              <a:rPr sz="1600" b="0" i="0">
                <a:solidFill>
                  <a:srgbClr val="2B2220"/>
                </a:solidFill>
                <a:latin typeface="Lato"/>
              </a:rPr>
              <a:t>Rough edges</a:t>
            </a:r>
          </a:p>
        </p:txBody>
      </p:sp>
      <p:sp>
        <p:nvSpPr>
          <p:cNvPr id="6" name="Rounded Rectangle 5"/>
          <p:cNvSpPr/>
          <p:nvPr/>
        </p:nvSpPr>
        <p:spPr>
          <a:xfrm>
            <a:off x="3246120" y="1280160"/>
            <a:ext cx="2606040" cy="3017520"/>
          </a:xfrm>
          <a:prstGeom prst="roundRect">
            <a:avLst>
              <a:gd name="adj" fmla="val 6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46120" y="1371600"/>
            <a:ext cx="2606040" cy="548640"/>
          </a:xfrm>
          <a:prstGeom prst="rect">
            <a:avLst/>
          </a:prstGeom>
          <a:noFill/>
        </p:spPr>
        <p:txBody>
          <a:bodyPr wrap="square" anchor="t" lIns="109728" rIns="109728" tIns="54864" bIns="54864">
            <a:spAutoFit/>
          </a:bodyPr>
          <a:lstStyle/>
          <a:p>
            <a:pPr algn="l"/>
            <a:r>
              <a:rPr sz="2600" b="1" i="0">
                <a:solidFill>
                  <a:srgbClr val="6B2737"/>
                </a:solidFill>
                <a:latin typeface="Merriweather"/>
              </a:rPr>
              <a:t>Next</a:t>
            </a:r>
          </a:p>
        </p:txBody>
      </p:sp>
      <p:sp>
        <p:nvSpPr>
          <p:cNvPr id="8" name="TextBox 7"/>
          <p:cNvSpPr txBox="1"/>
          <p:nvPr/>
        </p:nvSpPr>
        <p:spPr>
          <a:xfrm>
            <a:off x="3246120" y="2011680"/>
            <a:ext cx="2606040" cy="2194560"/>
          </a:xfrm>
          <a:prstGeom prst="rect">
            <a:avLst/>
          </a:prstGeom>
          <a:noFill/>
        </p:spPr>
        <p:txBody>
          <a:bodyPr wrap="square" anchor="t" lIns="109728" rIns="109728" tIns="54864" bIns="54864">
            <a:spAutoFit/>
          </a:bodyPr>
          <a:lstStyle/>
          <a:p>
            <a:pPr algn="l">
              <a:spcAft>
                <a:spcPts val="1000"/>
              </a:spcAft>
            </a:pPr>
            <a:r>
              <a:rPr sz="1600" b="0" i="0">
                <a:solidFill>
                  <a:srgbClr val="2B2220"/>
                </a:solidFill>
                <a:latin typeface="Lato"/>
              </a:rPr>
              <a:t>Friends start groups</a:t>
            </a:r>
          </a:p>
          <a:p>
            <a:pPr algn="l">
              <a:spcAft>
                <a:spcPts val="1000"/>
              </a:spcAft>
            </a:pPr>
            <a:r>
              <a:rPr sz="1600" b="0" i="0">
                <a:solidFill>
                  <a:srgbClr val="2B2220"/>
                </a:solidFill>
                <a:latin typeface="Lato"/>
              </a:rPr>
              <a:t>Everyone lends one</a:t>
            </a:r>
          </a:p>
          <a:p>
            <a:pPr algn="l">
              <a:spcAft>
                <a:spcPts val="1000"/>
              </a:spcAft>
            </a:pPr>
            <a:r>
              <a:rPr sz="1600" b="0" i="0">
                <a:solidFill>
                  <a:srgbClr val="2B2220"/>
                </a:solidFill>
                <a:latin typeface="Lato"/>
              </a:rPr>
              <a:t>I fix bugs</a:t>
            </a:r>
          </a:p>
        </p:txBody>
      </p:sp>
      <p:sp>
        <p:nvSpPr>
          <p:cNvPr id="9" name="Rounded Rectangle 8"/>
          <p:cNvSpPr/>
          <p:nvPr/>
        </p:nvSpPr>
        <p:spPr>
          <a:xfrm>
            <a:off x="6035040" y="1280160"/>
            <a:ext cx="2606040" cy="3017520"/>
          </a:xfrm>
          <a:prstGeom prst="roundRect">
            <a:avLst>
              <a:gd name="adj" fmla="val 6000"/>
            </a:avLst>
          </a:prstGeom>
          <a:solidFill>
            <a:srgbClr val="EB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1371600"/>
            <a:ext cx="2606040" cy="548640"/>
          </a:xfrm>
          <a:prstGeom prst="rect">
            <a:avLst/>
          </a:prstGeom>
          <a:noFill/>
        </p:spPr>
        <p:txBody>
          <a:bodyPr wrap="square" anchor="t" lIns="109728" rIns="109728" tIns="54864" bIns="54864">
            <a:spAutoFit/>
          </a:bodyPr>
          <a:lstStyle/>
          <a:p>
            <a:pPr algn="l"/>
            <a:r>
              <a:rPr sz="2600" b="1" i="0">
                <a:solidFill>
                  <a:srgbClr val="6B2737"/>
                </a:solidFill>
                <a:latin typeface="Merriweather"/>
              </a:rPr>
              <a:t>Later</a:t>
            </a:r>
          </a:p>
        </p:txBody>
      </p:sp>
      <p:sp>
        <p:nvSpPr>
          <p:cNvPr id="11" name="TextBox 10"/>
          <p:cNvSpPr txBox="1"/>
          <p:nvPr/>
        </p:nvSpPr>
        <p:spPr>
          <a:xfrm>
            <a:off x="6035040" y="2011680"/>
            <a:ext cx="2606040" cy="2194560"/>
          </a:xfrm>
          <a:prstGeom prst="rect">
            <a:avLst/>
          </a:prstGeom>
          <a:noFill/>
        </p:spPr>
        <p:txBody>
          <a:bodyPr wrap="square" anchor="t" lIns="109728" rIns="109728" tIns="54864" bIns="54864">
            <a:spAutoFit/>
          </a:bodyPr>
          <a:lstStyle/>
          <a:p>
            <a:pPr algn="l">
              <a:spcAft>
                <a:spcPts val="1000"/>
              </a:spcAft>
            </a:pPr>
            <a:r>
              <a:rPr sz="1600" b="0" i="0">
                <a:solidFill>
                  <a:srgbClr val="2B2220"/>
                </a:solidFill>
                <a:latin typeface="Lato"/>
              </a:rPr>
              <a:t>NFC stickers</a:t>
            </a:r>
          </a:p>
          <a:p>
            <a:pPr algn="l">
              <a:spcAft>
                <a:spcPts val="1000"/>
              </a:spcAft>
            </a:pPr>
            <a:r>
              <a:rPr sz="1600" b="0" i="0">
                <a:solidFill>
                  <a:srgbClr val="2B2220"/>
                </a:solidFill>
                <a:latin typeface="Lato"/>
              </a:rPr>
              <a:t>QR fallback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F4A3A"/>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anchor="t" lIns="109728" rIns="109728" tIns="54864" bIns="54864">
            <a:spAutoFit/>
          </a:bodyPr>
          <a:lstStyle/>
          <a:p>
            <a:pPr algn="l"/>
            <a:r>
              <a:rPr sz="3200" b="1" i="0">
                <a:solidFill>
                  <a:srgbClr val="F7F0E1"/>
                </a:solidFill>
                <a:latin typeface="Merriweather"/>
              </a:rPr>
              <a:t>What I need from you</a:t>
            </a:r>
          </a:p>
        </p:txBody>
      </p:sp>
      <p:sp>
        <p:nvSpPr>
          <p:cNvPr id="3" name="TextBox 2"/>
          <p:cNvSpPr txBox="1"/>
          <p:nvPr/>
        </p:nvSpPr>
        <p:spPr>
          <a:xfrm>
            <a:off x="457200" y="1280160"/>
            <a:ext cx="4846320" cy="2377440"/>
          </a:xfrm>
          <a:prstGeom prst="rect">
            <a:avLst/>
          </a:prstGeom>
          <a:noFill/>
        </p:spPr>
        <p:txBody>
          <a:bodyPr wrap="square" anchor="t" lIns="109728" rIns="109728" tIns="54864" bIns="54864">
            <a:spAutoFit/>
          </a:bodyPr>
          <a:lstStyle/>
          <a:p>
            <a:pPr algn="l">
              <a:spcAft>
                <a:spcPts val="1400"/>
              </a:spcAft>
            </a:pPr>
            <a:r>
              <a:rPr sz="2000" b="0" i="0">
                <a:solidFill>
                  <a:srgbClr val="F7F0E1"/>
                </a:solidFill>
                <a:latin typeface="Lato"/>
              </a:rPr>
              <a:t>Honest feedback: what confuses you?</a:t>
            </a:r>
          </a:p>
          <a:p>
            <a:pPr algn="l">
              <a:spcAft>
                <a:spcPts val="1400"/>
              </a:spcAft>
            </a:pPr>
            <a:r>
              <a:rPr sz="2000" b="0" i="0">
                <a:solidFill>
                  <a:srgbClr val="F7F0E1"/>
                </a:solidFill>
                <a:latin typeface="Lato"/>
              </a:rPr>
              <a:t>Growth ideas: text me one tonight</a:t>
            </a:r>
          </a:p>
          <a:p>
            <a:pPr algn="l">
              <a:spcAft>
                <a:spcPts val="1400"/>
              </a:spcAft>
            </a:pPr>
            <a:r>
              <a:rPr sz="2000" b="0" i="0">
                <a:solidFill>
                  <a:srgbClr val="F7F0E1"/>
                </a:solidFill>
                <a:latin typeface="Lato"/>
              </a:rPr>
              <a:t>Testers: start a group, lend one book</a:t>
            </a:r>
          </a:p>
        </p:txBody>
      </p:sp>
      <p:sp>
        <p:nvSpPr>
          <p:cNvPr id="4" name="Rounded Rectangle 3"/>
          <p:cNvSpPr/>
          <p:nvPr/>
        </p:nvSpPr>
        <p:spPr>
          <a:xfrm>
            <a:off x="5760720" y="1188720"/>
            <a:ext cx="2743200" cy="2743200"/>
          </a:xfrm>
          <a:prstGeom prst="roundRect">
            <a:avLst/>
          </a:prstGeom>
          <a:solidFill>
            <a:srgbClr val="F7F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png"/>
          <p:cNvPicPr>
            <a:picLocks noChangeAspect="1"/>
          </p:cNvPicPr>
          <p:nvPr/>
        </p:nvPicPr>
        <p:blipFill>
          <a:blip r:embed="rId2"/>
          <a:stretch>
            <a:fillRect/>
          </a:stretch>
        </p:blipFill>
        <p:spPr>
          <a:xfrm>
            <a:off x="5989320" y="1417320"/>
            <a:ext cx="2286000" cy="2286000"/>
          </a:xfrm>
          <a:prstGeom prst="rect">
            <a:avLst/>
          </a:prstGeom>
        </p:spPr>
      </p:pic>
      <p:sp>
        <p:nvSpPr>
          <p:cNvPr id="6" name="TextBox 5"/>
          <p:cNvSpPr txBox="1"/>
          <p:nvPr/>
        </p:nvSpPr>
        <p:spPr>
          <a:xfrm>
            <a:off x="5760720" y="3977639"/>
            <a:ext cx="2743200" cy="365760"/>
          </a:xfrm>
          <a:prstGeom prst="rect">
            <a:avLst/>
          </a:prstGeom>
          <a:noFill/>
        </p:spPr>
        <p:txBody>
          <a:bodyPr wrap="square" anchor="t" lIns="109728" rIns="109728" tIns="54864" bIns="54864">
            <a:spAutoFit/>
          </a:bodyPr>
          <a:lstStyle/>
          <a:p>
            <a:pPr algn="ctr"/>
            <a:r>
              <a:rPr sz="1600" b="1" i="0">
                <a:solidFill>
                  <a:srgbClr val="F7F0E1"/>
                </a:solidFill>
                <a:latin typeface="Lato"/>
              </a:rPr>
              <a:t>Scan to try it</a:t>
            </a:r>
          </a:p>
        </p:txBody>
      </p:sp>
      <p:sp>
        <p:nvSpPr>
          <p:cNvPr id="7" name="TextBox 6"/>
          <p:cNvSpPr txBox="1"/>
          <p:nvPr/>
        </p:nvSpPr>
        <p:spPr>
          <a:xfrm>
            <a:off x="457200" y="4114800"/>
            <a:ext cx="5029200" cy="640080"/>
          </a:xfrm>
          <a:prstGeom prst="rect">
            <a:avLst/>
          </a:prstGeom>
          <a:noFill/>
        </p:spPr>
        <p:txBody>
          <a:bodyPr wrap="square" anchor="t" lIns="109728" rIns="109728" tIns="54864" bIns="54864">
            <a:spAutoFit/>
          </a:bodyPr>
          <a:lstStyle/>
          <a:p>
            <a:pPr algn="l"/>
            <a:r>
              <a:rPr sz="3000" b="1" i="0">
                <a:solidFill>
                  <a:srgbClr val="E3C27F"/>
                </a:solidFill>
                <a:latin typeface="Merriweathe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